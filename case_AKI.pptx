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2433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606040"/>
            <a:ext cx="8229600" cy="25400"/>
          </a:xfrm>
          <a:prstGeom prst="rect">
            <a:avLst/>
          </a:prstGeom>
          <a:solidFill>
            <a:srgbClr val="CCD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Pretendard"/>
              </a:rPr>
              <a:t>A Case of Acute Kidney Injury (AKI)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D2F0"/>
                </a:solidFill>
                <a:latin typeface="Pretendard"/>
              </a:rPr>
              <a:t>Urosepsis-induced AKI  |  KDIGO 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Pretendard"/>
              </a:rPr>
              <a:t>Department of Nephrology / Internal Medicine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2F0"/>
                </a:solidFill>
                <a:latin typeface="Pretendard"/>
              </a:rPr>
              <a:t>Medical Student Case Presentation  |  April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25603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CCD2F0"/>
                </a:solidFill>
                <a:latin typeface="Pretendard"/>
              </a:rPr>
              <a:t>CASE
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Patient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1124712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Field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Details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Age / 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75 y/o Female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Chief Complaint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Decreased urine output, fever, altered mental status — 2 days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Date of Visit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Emergency admission via 119 ambulance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Triage Level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ESI Level 2 (Emergent)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Vital Signs on Arrival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BP 88/56  |  HR 118  |  RR 24  |  Temp 38.9°C  |  SpO₂ 96% (RA)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History of Present Illness (HPI)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Timeline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5 days prior — dysuria, urinary frequency, mild flank pain (no treatment sought)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3 days prior — high fever (38.9°C), chills, nausea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2 days prior — oliguria onset (&lt;400 mL/day), progressive confusion, family called 119</a:t>
            </a:r>
          </a:p>
          <a:p>
            <a:pPr>
              <a:spcAft>
                <a:spcPts val="300"/>
              </a:spcAft>
            </a:pPr>
            <a:r>
              <a:rPr sz="6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OLDCARTS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0" y="1005840"/>
          <a:ext cx="640080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</a:tblGrid>
              <a:tr h="339471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Feature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Description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Onset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Gradual, 5 days ago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Location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Bilateral flank / suprapubic pain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5 days, worsening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Character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Dull flank ache → oliguria → AMS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Radiation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None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Severity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Oliguria 200 mL/24h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Associated 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Fever, chills, nausea, confusion, leg edema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Past Medical / Family / Social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430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Past Medical History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T2DM (15 yrs) — Metformin 1000mg BID + Glimepiride 2mg QD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Hypertension (12 yrs) — Losartan 50mg QD (ARB)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CKD Stage 2  (baseline Cr 1.1 mg/dL, 6 months ago)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Recurrent UTI — 2 episodes in past year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No prior surgeries  |  NKDA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Family History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Mother: CKD (ESRD, HD-dependent) — deceased at 78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Daughter: T2DM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Social History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Non-smoker, non-drinker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Lives alone; poor oral intake × 3 days (poor PO hydration)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No NSAID / contrast exposure in past 2 weeks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Review of Systems (ROS)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1124712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572000"/>
                <a:gridCol w="4754880"/>
              </a:tblGrid>
              <a:tr h="331927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System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Positive (+)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Negative (−)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Constitutional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Fever 38.9°C, chills, fatigue, poor PO 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weight loss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HEENT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Unremarkable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Cardiovascular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Peripheral edema (bilateral lower extremity)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chest pain, no palpitations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Pulmonary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Mild dyspnea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cough, no hemoptysis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Nausea, decreased appetite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vomiting, no diarrhea, no melena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GU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Dysuria, frequency (5d ago); oliguria 200mL/24h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hematuria (gross)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MSK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joint pain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Neuro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Confusion, lethargy (AMS)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focal neurologic deficit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rash, no petechiae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Physical Examination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11247120" cy="905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011680"/>
                <a:gridCol w="2011680"/>
                <a:gridCol w="2651760"/>
              </a:tblGrid>
              <a:tr h="45262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BP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HR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RR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Temp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SpO₂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88/56 mmHg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118 bpm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24 /min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38.9 °C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96% (RA)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176272"/>
          <a:ext cx="11247120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961120"/>
              </a:tblGrid>
              <a:tr h="339471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System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Findings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General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Ill-appearing, lethargic, diaphoretic; GCS 13 (E3V4M6)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HEENT / Neck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Dry mucous membranes, no JVD, no lymphadenopathy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Chest / Lungs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Clear to auscultation bilaterally; no crackles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Heart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Tachycardic, regular rhythm; no murmur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Abdomen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Suprapubic tenderness (+), CVA tenderness bilateral (+)</a:t>
                      </a:r>
                    </a:p>
                  </a:txBody>
                  <a:tcPr/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Extremities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Bilateral pitting edema 2+ (up to knee)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9471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Neuro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Confusion, disoriented to time &amp; place; no focal deficits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Laboratory &amp; Imaging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576072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737360"/>
                <a:gridCol w="1188720"/>
                <a:gridCol w="914400"/>
              </a:tblGrid>
              <a:tr h="331927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Lab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Result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Ref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/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Creatinine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4.8 mg/dL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0.5–1.1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↑↑↑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BUN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68 mg/dL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7–20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↑↑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K⁺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5.8 mEq/L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3.5–5.0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↑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Bicarbonate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14 mEq/L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22–29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↓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Na⁺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132 mEq/L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135–145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↓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WBC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18.4 ×10³/μL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4–10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↑↑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CRP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186 mg/L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&lt;5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↑↑↑</a:t>
                      </a:r>
                    </a:p>
                  </a:txBody>
                  <a:tcPr/>
                </a:tc>
              </a:tr>
              <a:tr h="331927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Lactate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3.8 mmol/L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&lt;2.0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↑↑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3192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Urine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200 mL/24h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&gt;400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Oliguria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35040" y="1005840"/>
            <a:ext cx="58521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2E3D86"/>
                </a:solidFill>
                <a:latin typeface="Pretendard"/>
              </a:rPr>
              <a:t>Urinalysis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Pretendard"/>
              </a:rPr>
              <a:t>Pyuria (WBC &gt;100/hpf), bacteriuria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Pretendard"/>
              </a:rPr>
              <a:t>Muddy brown granular casts (ATN)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Urine Na: 68 mEq/L  |  FENa: 3.2%  (&gt;2% → intrinsic)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E3D86"/>
                </a:solidFill>
                <a:latin typeface="Pretendard"/>
              </a:rPr>
              <a:t>Blood / Urine Culture</a:t>
            </a:r>
          </a:p>
          <a:p>
            <a:pPr lvl="1"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Pretendard"/>
              </a:rPr>
              <a:t>E. coli — blood culture (+) × 2 sets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E. coli — urine culture (+), &gt;10⁵ CFU/mL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2E3D86"/>
                </a:solidFill>
                <a:latin typeface="Pretendard"/>
              </a:rPr>
              <a:t>Renal Ultrasound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Bilateral kidney size normal (R: 10.8cm, L: 11.0cm)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000000"/>
                </a:solidFill>
                <a:latin typeface="Pretendard"/>
              </a:rPr>
              <a:t>No hydronephrosis, no obstruction</a:t>
            </a:r>
          </a:p>
          <a:p>
            <a:pPr lvl="1">
              <a:spcAft>
                <a:spcPts val="300"/>
              </a:spcAft>
            </a:pPr>
            <a:r>
              <a:rPr sz="1300" b="0">
                <a:solidFill>
                  <a:srgbClr val="C00000"/>
                </a:solidFill>
                <a:latin typeface="Pretendard"/>
              </a:rPr>
              <a:t>Increased echogenicity bilaterally (parenchymal edema)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Problem List &amp;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Problem List</a:t>
            </a:r>
          </a:p>
          <a:p>
            <a:pPr lvl="1"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Pretendard"/>
              </a:rPr>
              <a:t>1.  AKI Stage 3 (KDIGO) — Cr 4.8 from baseline 1.1 (PRIMARY)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C00000"/>
                </a:solidFill>
                <a:latin typeface="Pretendard"/>
              </a:rPr>
              <a:t>2.  Urosepsis — E. coli bacteremia (septic shock: MAP &lt;65)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C00000"/>
                </a:solidFill>
                <a:latin typeface="Pretendard"/>
              </a:rPr>
              <a:t>3.  Hyperkalemia — K⁺ 5.8 mEq/L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4.  Metabolic acidosis — HCO₃ 14 mEq/L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5.  Underlying CKD Stage 2  (acute-on-chronic)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6.  T2DM / HTN — medications to hold (Metformin, ARB)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069080"/>
            <a:ext cx="11247120" cy="2377440"/>
          </a:xfrm>
          <a:prstGeom prst="rect">
            <a:avLst/>
          </a:prstGeom>
          <a:solidFill>
            <a:srgbClr val="E8EBF8"/>
          </a:solidFill>
          <a:ln>
            <a:solidFill>
              <a:srgbClr val="2E3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/>
            <a:r>
              <a:rPr b="1" sz="1400">
                <a:solidFill>
                  <a:srgbClr val="2E3D86"/>
                </a:solidFill>
                <a:latin typeface="Pretendard"/>
              </a:rPr>
              <a:t>Assessment</a:t>
            </a:r>
          </a:p>
          <a:p>
            <a:r>
              <a:rPr sz="1200">
                <a:solidFill>
                  <a:srgbClr val="000000"/>
                </a:solidFill>
                <a:latin typeface="Pretendard"/>
              </a:rPr>
              <a:t>75 y/o female with CKD stage 2, T2DM, and HTN on ARB, presenting with 5-day history of UTI progressing to urosepsis (E. coli bacteremia) with septic shock (BP 88/56, lactate 3.8) and oliguric AKI KDIGO Stage 3 (Cr 4.8 from baseline 1.1). Urinalysis showing muddy brown casts and elevated FENa (3.2%) confirm intrinsic AKI (sepsis-induced ATN). Urgent nephrology consult and RRT evaluation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Differential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05840"/>
          <a:ext cx="11247120" cy="2112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114800"/>
                <a:gridCol w="4480560"/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Diagnosis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Supporting Evidence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Against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Sepsis-induced ATN 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E. coli bacteremia, septic shock, muddy brown casts, FENa &gt;2%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—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Pre-renal AKI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Hypotension, poor PO intake, dehydration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FENa 3.2% (&gt;2%), muddy brown casts → intrinsic, not pre-renal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Obstructive (Post-renal) AKI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Bilateral flank pain, older female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hydronephrosis on U/S, no stone, no mass</a:t>
                      </a:r>
                    </a:p>
                  </a:txBody>
                  <a:tcPr/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Drug-induced AKI (ARB)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On Losartan, pre-existing CKD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NSAID/contrast, primary driver is sepsis not drug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Rapidly Progressive 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Acute Cr rise, CKD 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 hematuria, no red cell casts, infectious source identified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Final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2200" b="1">
                <a:solidFill>
                  <a:srgbClr val="C00000"/>
                </a:solidFill>
                <a:latin typeface="Pretendard"/>
              </a:rPr>
              <a:t>Acute Kidney Injury (AKI) — KDIGO Stage 3</a:t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Etiology: Sepsis-induced Acute Tubular Necrosis (ATN)  |  Source: Urosepsis (E. coli)</a:t>
            </a:r>
          </a:p>
          <a:p>
            <a:pPr>
              <a:spcAft>
                <a:spcPts val="300"/>
              </a:spcAft>
            </a:pPr>
            <a:r>
              <a:rPr sz="7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KDIGO Staging Criteria (2012)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✅  Cr rise ≥ 3× baseline  (1.1 → 4.8 mg/dL = 4.4× within 48h)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✅  Oliguria &lt; 0.3 mL/kg/hr × ≥ 24h  (200 mL/24h in 60 kg patient = 0.14 mL/kg/hr)</a:t>
            </a:r>
          </a:p>
          <a:p>
            <a:pPr lvl="1"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Pretendard"/>
              </a:rPr>
              <a:t>  → KDIGO Stage 3 (highest severity)</a:t>
            </a:r>
          </a:p>
          <a:p>
            <a:pPr>
              <a:spcAft>
                <a:spcPts val="300"/>
              </a:spcAft>
            </a:pPr>
            <a:r>
              <a:rPr sz="7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Sepsis Criteria (Sepsis-3)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Pretendard"/>
              </a:rPr>
              <a:t>SOFA score ≥ 2  |  Suspected infection (UTI → bacteremia) → Sepsis</a:t>
            </a:r>
          </a:p>
          <a:p>
            <a:pPr lvl="1">
              <a:spcAft>
                <a:spcPts val="300"/>
              </a:spcAft>
            </a:pPr>
            <a:r>
              <a:rPr sz="1400" b="0">
                <a:solidFill>
                  <a:srgbClr val="C00000"/>
                </a:solidFill>
                <a:latin typeface="Pretendard"/>
              </a:rPr>
              <a:t>MAP &lt; 65 mmHg requiring vasopressor + lactate &gt; 2 mmol/L → Septic Shock</a:t>
            </a:r>
          </a:p>
          <a:p>
            <a:pPr>
              <a:spcAft>
                <a:spcPts val="300"/>
              </a:spcAft>
            </a:pPr>
            <a:r>
              <a:rPr sz="7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E3D86"/>
                </a:solidFill>
                <a:latin typeface="Pretendard"/>
              </a:rPr>
              <a:t>Acute-on-Chronic Kidney Disease (AoC-CKD)  on background CKD Stage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Treatment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C00000"/>
                </a:solidFill>
                <a:latin typeface="Pretendard"/>
              </a:rPr>
              <a:t>Immediate / ICU-level Management</a:t>
            </a:r>
          </a:p>
          <a:p>
            <a:pPr lvl="1">
              <a:spcAft>
                <a:spcPts val="300"/>
              </a:spcAft>
            </a:pPr>
            <a:r>
              <a:rPr sz="1200" b="1">
                <a:solidFill>
                  <a:srgbClr val="000000"/>
                </a:solidFill>
                <a:latin typeface="Pretendard"/>
              </a:rPr>
              <a:t>Aggressive IV fluid resuscitation (NS or balanced crystalloid 30 mL/kg bolus) → target MAP ≥ 65 mmHg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Vasopressor: Norepinephrine if fluid-refractory  |  Hourly urine output monitoring (foley catheter)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C00000"/>
                </a:solidFill>
                <a:latin typeface="Pretendard"/>
              </a:rPr>
              <a:t>HOLD: Metformin (lactic acidosis risk), Losartan (reduces GFR)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2560320"/>
          <a:ext cx="1124712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017520"/>
                <a:gridCol w="1097280"/>
                <a:gridCol w="4480560"/>
              </a:tblGrid>
              <a:tr h="344859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Drug / Intervention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Dose / Regimen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Route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Pretendard"/>
                        </a:rPr>
                        <a:t>Indication</a:t>
                      </a:r>
                    </a:p>
                  </a:txBody>
                  <a:tcPr>
                    <a:solidFill>
                      <a:srgbClr val="2E3D86"/>
                    </a:solidFill>
                  </a:tcPr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Ceftriaxone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2g q24h (renally adjusted)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E. coli urosepsis</a:t>
                      </a:r>
                    </a:p>
                  </a:txBody>
                  <a:tcPr/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Norepinephrine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0.01–0.3 mcg/kg/min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IV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Septic shock (MAP&lt;65)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Calcium gluconate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1g over 10 min  (STAT)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Pretendard"/>
                        </a:rPr>
                        <a:t>Hyperkalemia K⁺5.8 — cardiac protection</a:t>
                      </a:r>
                    </a:p>
                  </a:txBody>
                  <a:tcPr/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Sodium bicarbonate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1–2 mEq/kg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IV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Metabolic acidosis + K⁺ redistribution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  <a:tr h="344859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Insulin + D50W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10U Regular + 50mL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Hyperkalemia — K⁺ shift</a:t>
                      </a:r>
                    </a:p>
                  </a:txBody>
                  <a:tcPr/>
                </a:tc>
              </a:tr>
              <a:tr h="344862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Kayexalate (SPS)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15–30g QD/BID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PO/PR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Pretendard"/>
                        </a:rPr>
                        <a:t>K⁺ elimination</a:t>
                      </a:r>
                    </a:p>
                  </a:txBody>
                  <a:tcPr>
                    <a:solidFill>
                      <a:srgbClr val="E8EB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6235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C00000"/>
                </a:solidFill>
                <a:latin typeface="Pretendard"/>
              </a:rPr>
              <a:t>RRT Indications (consider urgent CRRT/HD)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Refractory hyperkalemia  |  Severe metabolic acidosis  |  Oliguria / fluid overload  |  Uremic symptoms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Follow-up: Nephrology consult (STAT)  |  Serial Cr/K⁺ q6–8h  |  ID consult  |  Repeat U/S in 24h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843280"/>
            <a:ext cx="11274552" cy="25400"/>
          </a:xfrm>
          <a:prstGeom prst="rect">
            <a:avLst/>
          </a:prstGeom>
          <a:solidFill>
            <a:srgbClr val="2E3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731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4000">
                <a:solidFill>
                  <a:srgbClr val="2E3D86"/>
                </a:solidFill>
                <a:latin typeface="Pretendard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73152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solidFill>
                  <a:srgbClr val="000000"/>
                </a:solidFill>
                <a:latin typeface="Pretendard"/>
              </a:rPr>
              <a:t>Medical Student Case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20624"/>
            <a:ext cx="10515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1800">
                <a:solidFill>
                  <a:srgbClr val="2E3D86"/>
                </a:solidFill>
                <a:latin typeface="Pretendard"/>
              </a:rPr>
              <a:t>Discussion &amp; 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83680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CD2F0"/>
                </a:solidFill>
                <a:latin typeface="Pretendard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Pretendard"/>
              </a:rPr>
              <a:t>KDIGO AKI Staging: Diagnose Early, Intervene Fast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Stage 1: Cr ×1.5 or +0.3  |  Stage 2: Cr ×2  |  Stage 3: Cr ×3 or ≥4.0 or RRT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FENa &gt; 2% = Intrinsic (ATN)  |  FENa &lt; 1% = Pre-renal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FENa = (Urine Na × Serum Cr) / (Serum Na × Urine Cr) × 100%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Caveat: FENa unreliable with diuretics → use FEUrea instead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Hyperkalemia in AKI: Treat Empirically — K⁺ &gt; 5.5 is an emergency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Step 1: Membrane stabilization (Ca gluconate)  |  Step 2: Shift (Insulin+D50, NaHCO₃)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Step 3: Elimination (Kayexalate, dialysis) — target K⁺ &lt; 5.0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2E3D86"/>
                </a:solidFill>
                <a:latin typeface="Pretendard"/>
              </a:rPr>
              <a:t>Nephrotoxins to Avoid / Stop in AKI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HOLD: ACEi/ARB, NSAIDs, Metformin, aminoglycosides, IV contrast (unless life-saving)</a:t>
            </a:r>
          </a:p>
          <a:p>
            <a:pPr>
              <a:spcAft>
                <a:spcPts val="300"/>
              </a:spcAft>
            </a:pPr>
            <a:r>
              <a:rPr sz="500" b="0">
                <a:solidFill>
                  <a:srgbClr val="000000"/>
                </a:solidFill>
                <a:latin typeface="Pretendard"/>
              </a:rPr>
              <a:t/>
            </a: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E3D86"/>
                </a:solidFill>
                <a:latin typeface="Pretendard"/>
              </a:rPr>
              <a:t>Sepsis-induced AKI Recovery: Often reversible if source controlled early</a:t>
            </a:r>
          </a:p>
          <a:p>
            <a:pPr lvl="1">
              <a:spcAft>
                <a:spcPts val="300"/>
              </a:spcAft>
            </a:pPr>
            <a:r>
              <a:rPr sz="1200" b="0">
                <a:solidFill>
                  <a:srgbClr val="000000"/>
                </a:solidFill>
                <a:latin typeface="Pretendard"/>
              </a:rPr>
              <a:t>Cr nadir usually 7–14 days post-sepsis; 30–50% progress to CKD advancement if delayed 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