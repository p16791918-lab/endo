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243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06040"/>
            <a:ext cx="8229600" cy="25400"/>
          </a:xfrm>
          <a:prstGeom prst="rect">
            <a:avLst/>
          </a:prstGeom>
          <a:solidFill>
            <a:srgbClr val="C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A Case of ST-Elevation Myocardial Infarction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2F0"/>
                </a:solidFill>
                <a:latin typeface="Pretendard"/>
              </a:rPr>
              <a:t>STEMI — Anterior Wall  |  LAD Occlusion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"/>
              </a:rPr>
              <a:t>Department of Cardiology / Internal Medicine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2F0"/>
                </a:solidFill>
                <a:latin typeface="Pretendard"/>
              </a:rPr>
              <a:t>Medical Student Case Presentation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5603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CD2F0"/>
                </a:solidFill>
                <a:latin typeface="Pretendard"/>
              </a:rPr>
              <a:t>CASE
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Patient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Field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Details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Age / 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62 y/o Male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Chief Complaint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Sudden onset crushing chest pain — 2 hours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Date of Visit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Emergency admission via 119 ambulance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Triage Level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ESI Level 1 (Immediate)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Vital Signs on Arrival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BP 158/96  |  HR 102  |  RR 22  |  SpO₂ 94% (RA)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History of Present Illness (HPI)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Timeline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1 week prior  — exertional chest discomfort, ignored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2 hours before arrival  — sudden substernal pain at rest, progressive worsening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Not relieved by position or rest</a:t>
            </a:r>
          </a:p>
          <a:p>
            <a:pPr>
              <a:spcAft>
                <a:spcPts val="300"/>
              </a:spcAft>
            </a:pPr>
            <a:r>
              <a:rPr sz="6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OLDCARTS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0" y="1005840"/>
          <a:ext cx="640080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</a:tblGrid>
              <a:tr h="339471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Feature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Description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Onset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Sudden, at rest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Location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Substernal / precordial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~2 hrs, persistent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Character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Crushing, pressure-like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Radiation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Left arm, jaw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Severity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9/10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Associated 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Diaphoresis, nausea, dyspnea, lightheadedness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Past Medical / Family / Social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Past Medical History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Hypertension (10 yrs) — Amlodipine 5mg QD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T2DM (7 yrs) — Metformin 1000mg BID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Hyperlipidemia (5 yrs) — Rosuvastatin 10mg  (poor compliance)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No prior cardiac Hx, no prior surgeries  |  NKDA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Family History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Father: MI at 55 y/o → deceased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Brother: CAD, s/p PCI at 58 y/o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Social History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Smoking: 30 pack-years (current smoker)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Alcohol: 3–4 drinks/week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Occupation: office worker  |  Lives with wife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Review of Systems (ROS)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023360"/>
                <a:gridCol w="5303520"/>
              </a:tblGrid>
              <a:tr h="33192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System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Positive (+)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Negative (−)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Constitutional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Diaphoresis, fatigue (1 wk)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fever, no weight loss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HEENT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Unremarkable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Cardiovascular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Chest pain, exertional dyspnea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palpitations, no syncope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Pulmonary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Dyspnea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cough, no hemoptysis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Nausea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vomiting, no abd pain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GU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Unremarkable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MSK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Unremarkable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Neuro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Lightheadedness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syncope, no focal deficit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Unremarkable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Physical Examination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2011680"/>
                <a:gridCol w="2651760"/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BP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HR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RR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Temp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SpO₂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158/96 mmHg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102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22 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36.8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94% (RA)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176272"/>
          <a:ext cx="1124712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339471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System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Findings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Acute distress, diaphoretic, pale, clutching chest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HEENT / Neck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JVD, no carotid bruit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Chest / Lungs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Bilateral basal crackles (mild)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Heart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Tachycardic; S3 gallop; no murmur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Abdomen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Soft, non-tender, no organomegaly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Extremities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edema; distal pulses 2+ bilaterally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Alert &amp; oriented ×3; no focal deficits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Laboratory &amp; Imaging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5577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737360"/>
                <a:gridCol w="1188720"/>
                <a:gridCol w="82296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Lab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Result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Ref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Troponin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18.4 ng/mL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&lt;0.04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↑↑↑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CK-MB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98 U/L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&lt;25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↑↑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BNP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420 pg/mL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&lt;100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WBC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13.2 ×10³/μL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4–10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↑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Glucose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198 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70–100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↑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LDL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168 mg/dL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&lt;100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↑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32 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&gt;40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↓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Creatinine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1.1 mg/dL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0.7–1.2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WNL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0" y="10058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E3D86"/>
                </a:solidFill>
                <a:latin typeface="Pretendard"/>
              </a:rPr>
              <a:t>12-Lead ECG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Pretendard"/>
              </a:rPr>
              <a:t>ST elevation 2–4 mm in V1–V4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Reciprocal ST depression in II, III, aVF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Q waves developing in V1–V2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Pretendard"/>
              </a:rPr>
              <a:t>→ Anterior STEMI (LAD territory)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E3D86"/>
                </a:solidFill>
                <a:latin typeface="Pretendard"/>
              </a:rPr>
              <a:t>Chest X-Ray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Mild cardiomegaly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Pulmonary vascular congestion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Early interstitial edema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No PTX, no pleural effusion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Problem List &amp;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Problem List</a:t>
            </a:r>
          </a:p>
          <a:p>
            <a:pPr lvl="1"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Pretendard"/>
              </a:rPr>
              <a:t>1.  Anterior STEMI — LAD occlusion (PRIMARY)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C00000"/>
                </a:solidFill>
                <a:latin typeface="Pretendard"/>
              </a:rPr>
              <a:t>2.  Acute heart failure — Killip Class II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3.  Uncontrolled hypertension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4.  Uncontrolled T2DM  (glucose 198)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5.  Hyperlipidemia  (non-compliant)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6.  Active smoker — 30 pack-years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1247120" cy="2377440"/>
          </a:xfrm>
          <a:prstGeom prst="rect">
            <a:avLst/>
          </a:prstGeom>
          <a:solidFill>
            <a:srgbClr val="E8EBF8"/>
          </a:solidFill>
          <a:ln>
            <a:solidFill>
              <a:srgbClr val="2E3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/>
            <a:r>
              <a:rPr b="1" sz="1400">
                <a:solidFill>
                  <a:srgbClr val="2E3D86"/>
                </a:solidFill>
                <a:latin typeface="Pretendard"/>
              </a:rPr>
              <a:t>Assessment</a:t>
            </a:r>
          </a:p>
          <a:p>
            <a:r>
              <a:rPr sz="1200">
                <a:solidFill>
                  <a:srgbClr val="000000"/>
                </a:solidFill>
                <a:latin typeface="Pretendard"/>
              </a:rPr>
              <a:t>62 y/o male with HTN, T2DM, hyperlipidemia, 30 pack-year smoking history, and strong family history of CAD, presenting with 2-hour crushing substernal chest pain radiating to the left arm with diaphoresis, ST elevation in V1–V4, and markedly elevated troponin I (18.4 ng/mL), consistent with anterior STEMI secondary to acute LAD occlusion.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Differential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572000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Diagnosis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Supporting Evidence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Against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Anterior STEMI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ST↑ V1–V4, Trop↑↑↑, crushing CP, diaphoresis, risk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Aortic Dissection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Severe CP, hypertension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tearing quality, no pulse differential, normal mediastinum CXR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Pulmonary Embolism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Dyspnea, tachycardia, SpO₂↓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pleuritic pain, no DVT, ECG = ST↑ not S1Q3T3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NSTEMI / UA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Chest pain, troponin rise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ST elevation present → rules out NSTEMI by definition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Takotsubo CMP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Anterior wall motion abnormality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Male sex, no acute emotional stressor, classic atherosclerotic profile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Final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C00000"/>
                </a:solidFill>
                <a:latin typeface="Pretendard"/>
              </a:rPr>
              <a:t>Anterior ST-Elevation Myocardial Infarction (Anterior STEMI)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Culprit Vessel: LAD (proximal occlusion)</a:t>
            </a:r>
          </a:p>
          <a:p>
            <a:pPr>
              <a:spcAft>
                <a:spcPts val="300"/>
              </a:spcAft>
            </a:pPr>
            <a:r>
              <a:rPr sz="7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Diagnostic Criteria Met  (ACC/AHA Universal Definition of MI)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✅  Ischemic symptoms &gt; 20 minutes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✅  New ST elevation ≥ 2 mm in V1–V4  (≥2 contiguous leads)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✅  Troponin I 18.4 ng/mL  (&gt; 450× upper limit of normal)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✅  Anterior wall hypokinesia on echocardiogram</a:t>
            </a:r>
          </a:p>
          <a:p>
            <a:pPr>
              <a:spcAft>
                <a:spcPts val="300"/>
              </a:spcAft>
            </a:pPr>
            <a:r>
              <a:rPr sz="7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Classification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Killip Class II  (S3 gallop + basal crackles)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C00000"/>
                </a:solidFill>
                <a:latin typeface="Pretendard"/>
              </a:rPr>
              <a:t>TIMI Risk Score: 6/14  →  High Risk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Type 1 MI  (Spontaneous — atherosclerotic plaque rupture)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Treatment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Pretendard"/>
              </a:rPr>
              <a:t>Acute / Emergency Management</a:t>
            </a: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Pretendard"/>
              </a:rPr>
              <a:t>Primary PCI — LAD stent (DES)  |  Door-to-balloon target: &lt; 90 min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O₂ supplementation (target SpO₂ ≥ 95%)  |  IV access ×2  |  Cardiac monitoring  |  Serial ECG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331720"/>
          <a:ext cx="112471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00400"/>
                <a:gridCol w="1280160"/>
                <a:gridCol w="4389120"/>
              </a:tblGrid>
              <a:tr h="344859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Drug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Dose / Regimen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Route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Indication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Aspirin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300 mg load → 100 mg 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Antiplatelet</a:t>
                      </a:r>
                    </a:p>
                  </a:txBody>
                  <a:tcPr/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Clopidogrel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600 mg load → 75 mg QD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PO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DAPT (×12 mo)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Heparin UFH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60 U/kg bolus → infusion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Anticoagulation</a:t>
                      </a:r>
                    </a:p>
                  </a:txBody>
                  <a:tcPr/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Metoprolol succinate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25 mg QD → uptitrate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PO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Beta-blocker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Ramipril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2.5 mg QD → uptitrate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ACEi (EF↓, HTN)</a:t>
                      </a:r>
                    </a:p>
                  </a:txBody>
                  <a:tcPr/>
                </a:tc>
              </a:tr>
              <a:tr h="34486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Rosuvastatin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20 mg QD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PO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High-intensity statin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E3D86"/>
                </a:solidFill>
                <a:latin typeface="Pretendard"/>
              </a:rPr>
              <a:t>Non-pharmacological / Follow-up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Low-Na/low-fat diet  |  Smoking cessation  |  Cardiac rehab referral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Echo at 4–6 wks  |  Outpatient Cardiology at 2 wks  |  Lipid + HbA1c at 6 wks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Discussion &amp; 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Pretendard"/>
              </a:rPr>
              <a:t>"Time is Muscle"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Door-to-balloon &lt; 90 min is the #1 determinant of outcome in STEMI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Every 30-min delay ≈ 7.5% increase in 1-year mortality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Killip Classification guides acute HF management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Class I: No HF  |  Class II: S3/crackles  |  Class III: Pulm edema  |  Class IV: Cardiogenic shock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DAPT Duration Post-DES: minimum 12 months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Aspirin + P2Y12 inhibitor  (prefer ticagrelor &gt; clopidogrel per guidelines)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ACEi / ARB mandatory when EF &lt; 40% post-MI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Reduces ventricular remodeling and mortality  (SAVE, AIRE trials)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Secondary Prevention = as important as acute therapy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Statin (LDL&lt;70) + BP control + DM mgmt + smoking cessation + cardiac rehab → ↓ 50% recurrence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