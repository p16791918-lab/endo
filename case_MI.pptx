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88952" cy="73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</a:rPr>
              <a:t>A Case of ST-Elevation Myocardial Infarction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D6E3F3"/>
                </a:solidFill>
              </a:rPr>
              <a:t>(STEMI — Anterior Wall, LAD Occlusion)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175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FFFFF"/>
                </a:solidFill>
              </a:rPr>
              <a:t>Department of Cardiology / Internal Medicine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5661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D6E3F3"/>
                </a:solidFill>
              </a:rPr>
              <a:t>Medical Student Case Presentation  |  April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74320" tIns="137160"/>
          <a:lstStyle/>
          <a:p>
            <a:pPr algn="l"/>
            <a:r>
              <a:rPr b="1" sz="2800">
                <a:solidFill>
                  <a:srgbClr val="FFFFFF"/>
                </a:solidFill>
              </a:rPr>
              <a:t>Patient Information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88720"/>
          <a:ext cx="11247120" cy="22402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8046720"/>
              </a:tblGrid>
              <a:tr h="373379"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</a:rPr>
                        <a:t>Field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</a:rPr>
                        <a:t>Details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</a:tr>
              <a:tr h="373379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23232"/>
                          </a:solidFill>
                        </a:rPr>
                        <a:t>Age / Sex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23232"/>
                          </a:solidFill>
                        </a:rPr>
                        <a:t>62 y/o Male</a:t>
                      </a:r>
                    </a:p>
                  </a:txBody>
                  <a:tcPr/>
                </a:tc>
              </a:tr>
              <a:tr h="373379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23232"/>
                          </a:solidFill>
                        </a:rPr>
                        <a:t>Chief Complaint (CC)</a:t>
                      </a:r>
                    </a:p>
                  </a:txBody>
                  <a:tcPr>
                    <a:solidFill>
                      <a:srgbClr val="D6E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23232"/>
                          </a:solidFill>
                        </a:rPr>
                        <a:t>Sudden onset crushing chest pain — 2 hours</a:t>
                      </a:r>
                    </a:p>
                  </a:txBody>
                  <a:tcPr>
                    <a:solidFill>
                      <a:srgbClr val="D6E3F3"/>
                    </a:solidFill>
                  </a:tcPr>
                </a:tc>
              </a:tr>
              <a:tr h="373379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23232"/>
                          </a:solidFill>
                        </a:rPr>
                        <a:t>Date of Visit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23232"/>
                          </a:solidFill>
                        </a:rPr>
                        <a:t>Emergency admission via 119 ambulance</a:t>
                      </a:r>
                    </a:p>
                  </a:txBody>
                  <a:tcPr/>
                </a:tc>
              </a:tr>
              <a:tr h="373379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23232"/>
                          </a:solidFill>
                        </a:rPr>
                        <a:t>Triage Level</a:t>
                      </a:r>
                    </a:p>
                  </a:txBody>
                  <a:tcPr>
                    <a:solidFill>
                      <a:srgbClr val="D6E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C00000"/>
                          </a:solidFill>
                        </a:rPr>
                        <a:t>ESI Level 1 (Immediate)</a:t>
                      </a:r>
                    </a:p>
                  </a:txBody>
                  <a:tcPr>
                    <a:solidFill>
                      <a:srgbClr val="D6E3F3"/>
                    </a:solidFill>
                  </a:tcPr>
                </a:tc>
              </a:tr>
              <a:tr h="373384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23232"/>
                          </a:solidFill>
                        </a:rPr>
                        <a:t>Vital on Arrival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C00000"/>
                          </a:solidFill>
                        </a:rPr>
                        <a:t>BP 158/96 | HR 102 | SpO2 94% (RA)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74320" tIns="137160"/>
          <a:lstStyle/>
          <a:p>
            <a:pPr algn="l"/>
            <a:r>
              <a:rPr b="1" sz="2800">
                <a:solidFill>
                  <a:srgbClr val="FFFFFF"/>
                </a:solidFill>
              </a:rPr>
              <a:t>History of Present Illness (HPI)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50292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1F497D"/>
                </a:solidFill>
              </a:rPr>
              <a:t>Timeline</a:t>
            </a:r>
          </a:p>
          <a:p>
            <a:pPr lvl="1">
              <a:spcAft>
                <a:spcPts val="400"/>
              </a:spcAft>
            </a:pPr>
            <a:r>
              <a:rPr sz="1500" b="0">
                <a:solidFill>
                  <a:srgbClr val="323232"/>
                </a:solidFill>
              </a:rPr>
              <a:t>1 week prior: exertional chest discomfort (ignored)</a:t>
            </a:r>
          </a:p>
          <a:p>
            <a:pPr lvl="1">
              <a:spcAft>
                <a:spcPts val="400"/>
              </a:spcAft>
            </a:pPr>
            <a:r>
              <a:rPr sz="1500" b="0">
                <a:solidFill>
                  <a:srgbClr val="323232"/>
                </a:solidFill>
              </a:rPr>
              <a:t>2 hours prior to arrival: sudden onset substernal chest pain at rest</a:t>
            </a:r>
          </a:p>
          <a:p>
            <a:pPr lvl="1">
              <a:spcAft>
                <a:spcPts val="400"/>
              </a:spcAft>
            </a:pPr>
            <a:r>
              <a:rPr sz="1500" b="0">
                <a:solidFill>
                  <a:srgbClr val="323232"/>
                </a:solidFill>
              </a:rPr>
              <a:t>Progressive worsening — not relieved by position or rest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23232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1F497D"/>
                </a:solidFill>
              </a:rPr>
              <a:t>OLDCARTS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0" y="1097280"/>
          <a:ext cx="621792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206240"/>
              </a:tblGrid>
              <a:tr h="360045"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</a:rPr>
                        <a:t>Feature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</a:rPr>
                        <a:t>Description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</a:tr>
              <a:tr h="360045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23232"/>
                          </a:solidFill>
                        </a:rPr>
                        <a:t>Onset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23232"/>
                          </a:solidFill>
                        </a:rPr>
                        <a:t>Sudden, at rest</a:t>
                      </a:r>
                    </a:p>
                  </a:txBody>
                  <a:tcPr/>
                </a:tc>
              </a:tr>
              <a:tr h="360045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23232"/>
                          </a:solidFill>
                        </a:rPr>
                        <a:t>Location</a:t>
                      </a:r>
                    </a:p>
                  </a:txBody>
                  <a:tcPr>
                    <a:solidFill>
                      <a:srgbClr val="D6E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23232"/>
                          </a:solidFill>
                        </a:rPr>
                        <a:t>Substernal / precordial</a:t>
                      </a:r>
                    </a:p>
                  </a:txBody>
                  <a:tcPr>
                    <a:solidFill>
                      <a:srgbClr val="D6E3F3"/>
                    </a:solidFill>
                  </a:tcPr>
                </a:tc>
              </a:tr>
              <a:tr h="360045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23232"/>
                          </a:solidFill>
                        </a:rPr>
                        <a:t>Duration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C00000"/>
                          </a:solidFill>
                        </a:rPr>
                        <a:t>~2 hours, persistent</a:t>
                      </a:r>
                    </a:p>
                  </a:txBody>
                  <a:tcPr/>
                </a:tc>
              </a:tr>
              <a:tr h="360045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23232"/>
                          </a:solidFill>
                        </a:rPr>
                        <a:t>Character</a:t>
                      </a:r>
                    </a:p>
                  </a:txBody>
                  <a:tcPr>
                    <a:solidFill>
                      <a:srgbClr val="D6E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C00000"/>
                          </a:solidFill>
                        </a:rPr>
                        <a:t>Crushing, pressure-like</a:t>
                      </a:r>
                    </a:p>
                  </a:txBody>
                  <a:tcPr>
                    <a:solidFill>
                      <a:srgbClr val="D6E3F3"/>
                    </a:solidFill>
                  </a:tcPr>
                </a:tc>
              </a:tr>
              <a:tr h="360045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23232"/>
                          </a:solidFill>
                        </a:rPr>
                        <a:t>Radiation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C00000"/>
                          </a:solidFill>
                        </a:rPr>
                        <a:t>Left arm, jaw</a:t>
                      </a:r>
                    </a:p>
                  </a:txBody>
                  <a:tcPr/>
                </a:tc>
              </a:tr>
              <a:tr h="360045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23232"/>
                          </a:solidFill>
                        </a:rPr>
                        <a:t>Severity</a:t>
                      </a:r>
                    </a:p>
                  </a:txBody>
                  <a:tcPr>
                    <a:solidFill>
                      <a:srgbClr val="D6E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C00000"/>
                          </a:solidFill>
                        </a:rPr>
                        <a:t>9/10</a:t>
                      </a:r>
                    </a:p>
                  </a:txBody>
                  <a:tcPr>
                    <a:solidFill>
                      <a:srgbClr val="D6E3F3"/>
                    </a:solidFill>
                  </a:tcPr>
                </a:tc>
              </a:tr>
              <a:tr h="360045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23232"/>
                          </a:solidFill>
                        </a:rPr>
                        <a:t>Associated Sx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23232"/>
                          </a:solidFill>
                        </a:rPr>
                        <a:t>Diaphoresis, nausea, dyspnea, lightheadedness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74320" tIns="137160"/>
          <a:lstStyle/>
          <a:p>
            <a:pPr algn="l"/>
            <a:r>
              <a:rPr b="1" sz="2800">
                <a:solidFill>
                  <a:srgbClr val="FFFFFF"/>
                </a:solidFill>
              </a:rPr>
              <a:t>Past Medical / Family / Social History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4300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1F497D"/>
                </a:solidFill>
              </a:rPr>
              <a:t>Past Medical History</a:t>
            </a:r>
          </a:p>
          <a:p>
            <a:pPr lvl="1">
              <a:spcAft>
                <a:spcPts val="400"/>
              </a:spcAft>
            </a:pPr>
            <a:r>
              <a:rPr sz="1500" b="0">
                <a:solidFill>
                  <a:srgbClr val="323232"/>
                </a:solidFill>
              </a:rPr>
              <a:t>Hypertension (10 yrs) — Amlodipine 5mg QD</a:t>
            </a:r>
          </a:p>
          <a:p>
            <a:pPr lvl="1">
              <a:spcAft>
                <a:spcPts val="400"/>
              </a:spcAft>
            </a:pPr>
            <a:r>
              <a:rPr sz="1500" b="0">
                <a:solidFill>
                  <a:srgbClr val="323232"/>
                </a:solidFill>
              </a:rPr>
              <a:t>T2DM (7 yrs) — Metformin 1000mg BID</a:t>
            </a:r>
          </a:p>
          <a:p>
            <a:pPr lvl="1">
              <a:spcAft>
                <a:spcPts val="400"/>
              </a:spcAft>
            </a:pPr>
            <a:r>
              <a:rPr sz="1500" b="0">
                <a:solidFill>
                  <a:srgbClr val="323232"/>
                </a:solidFill>
              </a:rPr>
              <a:t>Hyperlipidemia (5 yrs) — Rosuvastatin 10mg (poor compliance)</a:t>
            </a:r>
          </a:p>
          <a:p>
            <a:pPr lvl="1">
              <a:spcAft>
                <a:spcPts val="400"/>
              </a:spcAft>
            </a:pPr>
            <a:r>
              <a:rPr sz="1500" b="0">
                <a:solidFill>
                  <a:srgbClr val="323232"/>
                </a:solidFill>
              </a:rPr>
              <a:t>No prior cardiac Hx, no prior surgeries</a:t>
            </a:r>
          </a:p>
          <a:p>
            <a:pPr lvl="1">
              <a:spcAft>
                <a:spcPts val="400"/>
              </a:spcAft>
            </a:pPr>
            <a:r>
              <a:rPr sz="1500" b="0">
                <a:solidFill>
                  <a:srgbClr val="323232"/>
                </a:solidFill>
              </a:rPr>
              <a:t>NKDA</a:t>
            </a:r>
          </a:p>
          <a:p>
            <a:pPr>
              <a:spcAft>
                <a:spcPts val="400"/>
              </a:spcAft>
            </a:pPr>
            <a:r>
              <a:rPr sz="600" b="0">
                <a:solidFill>
                  <a:srgbClr val="323232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1F497D"/>
                </a:solidFill>
              </a:rPr>
              <a:t>Family History</a:t>
            </a:r>
          </a:p>
          <a:p>
            <a:pPr lvl="1">
              <a:spcAft>
                <a:spcPts val="400"/>
              </a:spcAft>
            </a:pPr>
            <a:r>
              <a:rPr sz="1500" b="0">
                <a:solidFill>
                  <a:srgbClr val="C00000"/>
                </a:solidFill>
              </a:rPr>
              <a:t>Father: MI at 55 y/o → deceased</a:t>
            </a:r>
          </a:p>
          <a:p>
            <a:pPr lvl="1">
              <a:spcAft>
                <a:spcPts val="400"/>
              </a:spcAft>
            </a:pPr>
            <a:r>
              <a:rPr sz="1500" b="0">
                <a:solidFill>
                  <a:srgbClr val="C00000"/>
                </a:solidFill>
              </a:rPr>
              <a:t>Brother: CAD, s/p PCI at 58 y/o</a:t>
            </a:r>
          </a:p>
          <a:p>
            <a:pPr>
              <a:spcAft>
                <a:spcPts val="400"/>
              </a:spcAft>
            </a:pPr>
            <a:r>
              <a:rPr sz="600" b="0">
                <a:solidFill>
                  <a:srgbClr val="323232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1F497D"/>
                </a:solidFill>
              </a:rPr>
              <a:t>Social History</a:t>
            </a:r>
          </a:p>
          <a:p>
            <a:pPr lvl="1">
              <a:spcAft>
                <a:spcPts val="400"/>
              </a:spcAft>
            </a:pPr>
            <a:r>
              <a:rPr sz="1500" b="0">
                <a:solidFill>
                  <a:srgbClr val="C00000"/>
                </a:solidFill>
              </a:rPr>
              <a:t>Smoking: 30 pack-years (current)</a:t>
            </a:r>
          </a:p>
          <a:p>
            <a:pPr lvl="1">
              <a:spcAft>
                <a:spcPts val="400"/>
              </a:spcAft>
            </a:pPr>
            <a:r>
              <a:rPr sz="1500" b="0">
                <a:solidFill>
                  <a:srgbClr val="323232"/>
                </a:solidFill>
              </a:rPr>
              <a:t>Alcohol: 3–4 drinks/week</a:t>
            </a:r>
          </a:p>
          <a:p>
            <a:pPr lvl="1">
              <a:spcAft>
                <a:spcPts val="400"/>
              </a:spcAft>
            </a:pPr>
            <a:r>
              <a:rPr sz="1500" b="0">
                <a:solidFill>
                  <a:srgbClr val="323232"/>
                </a:solidFill>
              </a:rPr>
              <a:t>Occupation: office worker; lives with wife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74320" tIns="137160"/>
          <a:lstStyle/>
          <a:p>
            <a:pPr algn="l"/>
            <a:r>
              <a:rPr b="1" sz="2800">
                <a:solidFill>
                  <a:srgbClr val="FFFFFF"/>
                </a:solidFill>
              </a:rPr>
              <a:t>Review of Systems (ROS)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47120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114800"/>
                <a:gridCol w="5120640"/>
              </a:tblGrid>
              <a:tr h="352044"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</a:rPr>
                        <a:t>System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</a:rPr>
                        <a:t>Positive (+)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</a:rPr>
                        <a:t>Negative (−)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23232"/>
                          </a:solidFill>
                        </a:rPr>
                        <a:t>Constitutional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C00000"/>
                          </a:solidFill>
                        </a:rPr>
                        <a:t>Diaphoresis, fatigue (1 wk)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23232"/>
                          </a:solidFill>
                        </a:rPr>
                        <a:t>No fever, no weight loss</a:t>
                      </a:r>
                    </a:p>
                  </a:txBody>
                  <a:tcPr/>
                </a:tc>
              </a:tr>
              <a:tr h="352044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23232"/>
                          </a:solidFill>
                        </a:rPr>
                        <a:t>HEENT</a:t>
                      </a:r>
                    </a:p>
                  </a:txBody>
                  <a:tcPr>
                    <a:solidFill>
                      <a:srgbClr val="D6E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23232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D6E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23232"/>
                          </a:solidFill>
                        </a:rPr>
                        <a:t>Unremarkable</a:t>
                      </a:r>
                    </a:p>
                  </a:txBody>
                  <a:tcPr>
                    <a:solidFill>
                      <a:srgbClr val="D6E3F3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23232"/>
                          </a:solidFill>
                        </a:rPr>
                        <a:t>Cardiovascular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C00000"/>
                          </a:solidFill>
                        </a:rPr>
                        <a:t>Chest pain, exertional dyspnea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23232"/>
                          </a:solidFill>
                        </a:rPr>
                        <a:t>No palpitations, no syncope</a:t>
                      </a:r>
                    </a:p>
                  </a:txBody>
                  <a:tcPr/>
                </a:tc>
              </a:tr>
              <a:tr h="352044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23232"/>
                          </a:solidFill>
                        </a:rPr>
                        <a:t>Pulmonary</a:t>
                      </a:r>
                    </a:p>
                  </a:txBody>
                  <a:tcPr>
                    <a:solidFill>
                      <a:srgbClr val="D6E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C00000"/>
                          </a:solidFill>
                        </a:rPr>
                        <a:t>Dyspnea</a:t>
                      </a:r>
                    </a:p>
                  </a:txBody>
                  <a:tcPr>
                    <a:solidFill>
                      <a:srgbClr val="D6E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23232"/>
                          </a:solidFill>
                        </a:rPr>
                        <a:t>No cough, no hemoptysis</a:t>
                      </a:r>
                    </a:p>
                  </a:txBody>
                  <a:tcPr>
                    <a:solidFill>
                      <a:srgbClr val="D6E3F3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23232"/>
                          </a:solidFill>
                        </a:rPr>
                        <a:t>GI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C00000"/>
                          </a:solidFill>
                        </a:rPr>
                        <a:t>Nausea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23232"/>
                          </a:solidFill>
                        </a:rPr>
                        <a:t>No vomiting, no abd pain</a:t>
                      </a:r>
                    </a:p>
                  </a:txBody>
                  <a:tcPr/>
                </a:tc>
              </a:tr>
              <a:tr h="352044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23232"/>
                          </a:solidFill>
                        </a:rPr>
                        <a:t>GU</a:t>
                      </a:r>
                    </a:p>
                  </a:txBody>
                  <a:tcPr>
                    <a:solidFill>
                      <a:srgbClr val="D6E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23232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D6E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23232"/>
                          </a:solidFill>
                        </a:rPr>
                        <a:t>Unremarkable</a:t>
                      </a:r>
                    </a:p>
                  </a:txBody>
                  <a:tcPr>
                    <a:solidFill>
                      <a:srgbClr val="D6E3F3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23232"/>
                          </a:solidFill>
                        </a:rPr>
                        <a:t>MSK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23232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23232"/>
                          </a:solidFill>
                        </a:rPr>
                        <a:t>Unremarkable</a:t>
                      </a:r>
                    </a:p>
                  </a:txBody>
                  <a:tcPr/>
                </a:tc>
              </a:tr>
              <a:tr h="352044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23232"/>
                          </a:solidFill>
                        </a:rPr>
                        <a:t>Neuro</a:t>
                      </a:r>
                    </a:p>
                  </a:txBody>
                  <a:tcPr>
                    <a:solidFill>
                      <a:srgbClr val="D6E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C00000"/>
                          </a:solidFill>
                        </a:rPr>
                        <a:t>Lightheadedness</a:t>
                      </a:r>
                    </a:p>
                  </a:txBody>
                  <a:tcPr>
                    <a:solidFill>
                      <a:srgbClr val="D6E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23232"/>
                          </a:solidFill>
                        </a:rPr>
                        <a:t>No syncope, no focal deficit</a:t>
                      </a:r>
                    </a:p>
                  </a:txBody>
                  <a:tcPr>
                    <a:solidFill>
                      <a:srgbClr val="D6E3F3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23232"/>
                          </a:solidFill>
                        </a:rPr>
                        <a:t>Skin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23232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23232"/>
                          </a:solidFill>
                        </a:rPr>
                        <a:t>Unremarkable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74320" tIns="137160"/>
          <a:lstStyle/>
          <a:p>
            <a:pPr algn="l"/>
            <a:r>
              <a:rPr b="1" sz="2800">
                <a:solidFill>
                  <a:srgbClr val="FFFFFF"/>
                </a:solidFill>
              </a:rPr>
              <a:t>Physical Examination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47120" cy="9601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011680"/>
                <a:gridCol w="2011680"/>
                <a:gridCol w="2011680"/>
                <a:gridCol w="2651760"/>
              </a:tblGrid>
              <a:tr h="480059"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</a:rPr>
                        <a:t>BP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</a:rPr>
                        <a:t>HR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</a:rPr>
                        <a:t>RR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</a:rPr>
                        <a:t>Temp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</a:rPr>
                        <a:t>SpO2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C00000"/>
                          </a:solidFill>
                        </a:rPr>
                        <a:t>158/96 mmHg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C00000"/>
                          </a:solidFill>
                        </a:rPr>
                        <a:t>102 bpm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C00000"/>
                          </a:solidFill>
                        </a:rPr>
                        <a:t>22/min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23232"/>
                          </a:solidFill>
                        </a:rPr>
                        <a:t>36.8 °C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C00000"/>
                          </a:solidFill>
                        </a:rPr>
                        <a:t>94% (RA)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2240280"/>
          <a:ext cx="1124712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8686800"/>
              </a:tblGrid>
              <a:tr h="360045"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</a:rPr>
                        <a:t>System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</a:rPr>
                        <a:t>Findings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</a:tr>
              <a:tr h="360045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23232"/>
                          </a:solidFill>
                        </a:rPr>
                        <a:t>General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C00000"/>
                          </a:solidFill>
                        </a:rPr>
                        <a:t>Acute distress, diaphoretic, pale, clutching chest</a:t>
                      </a:r>
                    </a:p>
                  </a:txBody>
                  <a:tcPr/>
                </a:tc>
              </a:tr>
              <a:tr h="360045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23232"/>
                          </a:solidFill>
                        </a:rPr>
                        <a:t>HEENT / Neck</a:t>
                      </a:r>
                    </a:p>
                  </a:txBody>
                  <a:tcPr>
                    <a:solidFill>
                      <a:srgbClr val="D6E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23232"/>
                          </a:solidFill>
                        </a:rPr>
                        <a:t>No JVD, no carotid bruit</a:t>
                      </a:r>
                    </a:p>
                  </a:txBody>
                  <a:tcPr>
                    <a:solidFill>
                      <a:srgbClr val="D6E3F3"/>
                    </a:solidFill>
                  </a:tcPr>
                </a:tc>
              </a:tr>
              <a:tr h="360045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23232"/>
                          </a:solidFill>
                        </a:rPr>
                        <a:t>Chest / Lungs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C00000"/>
                          </a:solidFill>
                        </a:rPr>
                        <a:t>Bilateral basal crackles (mild)</a:t>
                      </a:r>
                    </a:p>
                  </a:txBody>
                  <a:tcPr/>
                </a:tc>
              </a:tr>
              <a:tr h="360045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23232"/>
                          </a:solidFill>
                        </a:rPr>
                        <a:t>Heart</a:t>
                      </a:r>
                    </a:p>
                  </a:txBody>
                  <a:tcPr>
                    <a:solidFill>
                      <a:srgbClr val="D6E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C00000"/>
                          </a:solidFill>
                        </a:rPr>
                        <a:t>Tachycardic; S3 gallop; no murmur</a:t>
                      </a:r>
                    </a:p>
                  </a:txBody>
                  <a:tcPr>
                    <a:solidFill>
                      <a:srgbClr val="D6E3F3"/>
                    </a:solidFill>
                  </a:tcPr>
                </a:tc>
              </a:tr>
              <a:tr h="360045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23232"/>
                          </a:solidFill>
                        </a:rPr>
                        <a:t>Abdomen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23232"/>
                          </a:solidFill>
                        </a:rPr>
                        <a:t>Soft, non-tender, no organomegaly</a:t>
                      </a:r>
                    </a:p>
                  </a:txBody>
                  <a:tcPr/>
                </a:tc>
              </a:tr>
              <a:tr h="360045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23232"/>
                          </a:solidFill>
                        </a:rPr>
                        <a:t>Extremities</a:t>
                      </a:r>
                    </a:p>
                  </a:txBody>
                  <a:tcPr>
                    <a:solidFill>
                      <a:srgbClr val="D6E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23232"/>
                          </a:solidFill>
                        </a:rPr>
                        <a:t>No edema; distal pulses 2+ bilaterally</a:t>
                      </a:r>
                    </a:p>
                  </a:txBody>
                  <a:tcPr>
                    <a:solidFill>
                      <a:srgbClr val="D6E3F3"/>
                    </a:solidFill>
                  </a:tcPr>
                </a:tc>
              </a:tr>
              <a:tr h="360045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23232"/>
                          </a:solidFill>
                        </a:rPr>
                        <a:t>Neuro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23232"/>
                          </a:solidFill>
                        </a:rPr>
                        <a:t>Alert &amp; oriented ×3; no focal deficits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74320" tIns="137160"/>
          <a:lstStyle/>
          <a:p>
            <a:pPr algn="l"/>
            <a:r>
              <a:rPr b="1" sz="2800">
                <a:solidFill>
                  <a:srgbClr val="FFFFFF"/>
                </a:solidFill>
              </a:rPr>
              <a:t>Laboratory &amp; Imaging Results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566928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188720"/>
                <a:gridCol w="822960"/>
              </a:tblGrid>
              <a:tr h="355600"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</a:rPr>
                        <a:t>Lab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</a:rPr>
                        <a:t>Result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</a:rPr>
                        <a:t>Ref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23232"/>
                          </a:solidFill>
                        </a:rPr>
                        <a:t>Troponin 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C00000"/>
                          </a:solidFill>
                        </a:rPr>
                        <a:t>18.4 ng/mL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23232"/>
                          </a:solidFill>
                        </a:rPr>
                        <a:t>&lt;0.04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C00000"/>
                          </a:solidFill>
                        </a:rPr>
                        <a:t>↑↑↑</a:t>
                      </a:r>
                    </a:p>
                  </a:txBody>
                  <a:tcPr/>
                </a:tc>
              </a:tr>
              <a:tr h="35560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23232"/>
                          </a:solidFill>
                        </a:rPr>
                        <a:t>CK-MB</a:t>
                      </a:r>
                    </a:p>
                  </a:txBody>
                  <a:tcPr>
                    <a:solidFill>
                      <a:srgbClr val="D6E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C00000"/>
                          </a:solidFill>
                        </a:rPr>
                        <a:t>98 U/L</a:t>
                      </a:r>
                    </a:p>
                  </a:txBody>
                  <a:tcPr>
                    <a:solidFill>
                      <a:srgbClr val="D6E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23232"/>
                          </a:solidFill>
                        </a:rPr>
                        <a:t>&lt;25</a:t>
                      </a:r>
                    </a:p>
                  </a:txBody>
                  <a:tcPr>
                    <a:solidFill>
                      <a:srgbClr val="D6E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C00000"/>
                          </a:solidFill>
                        </a:rPr>
                        <a:t>↑↑</a:t>
                      </a:r>
                    </a:p>
                  </a:txBody>
                  <a:tcPr>
                    <a:solidFill>
                      <a:srgbClr val="D6E3F3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23232"/>
                          </a:solidFill>
                        </a:rPr>
                        <a:t>BNP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C00000"/>
                          </a:solidFill>
                        </a:rPr>
                        <a:t>420 pg/mL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23232"/>
                          </a:solidFill>
                        </a:rPr>
                        <a:t>&lt;100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C00000"/>
                          </a:solidFill>
                        </a:rPr>
                        <a:t>↑</a:t>
                      </a:r>
                    </a:p>
                  </a:txBody>
                  <a:tcPr/>
                </a:tc>
              </a:tr>
              <a:tr h="35560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23232"/>
                          </a:solidFill>
                        </a:rPr>
                        <a:t>WBC</a:t>
                      </a:r>
                    </a:p>
                  </a:txBody>
                  <a:tcPr>
                    <a:solidFill>
                      <a:srgbClr val="D6E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C00000"/>
                          </a:solidFill>
                        </a:rPr>
                        <a:t>13.2 ×10³/μL</a:t>
                      </a:r>
                    </a:p>
                  </a:txBody>
                  <a:tcPr>
                    <a:solidFill>
                      <a:srgbClr val="D6E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23232"/>
                          </a:solidFill>
                        </a:rPr>
                        <a:t>4–10</a:t>
                      </a:r>
                    </a:p>
                  </a:txBody>
                  <a:tcPr>
                    <a:solidFill>
                      <a:srgbClr val="D6E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23232"/>
                          </a:solidFill>
                        </a:rPr>
                        <a:t>↑</a:t>
                      </a:r>
                    </a:p>
                  </a:txBody>
                  <a:tcPr>
                    <a:solidFill>
                      <a:srgbClr val="D6E3F3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23232"/>
                          </a:solidFill>
                        </a:rPr>
                        <a:t>Glucose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C00000"/>
                          </a:solidFill>
                        </a:rPr>
                        <a:t>198 mg/dL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23232"/>
                          </a:solidFill>
                        </a:rPr>
                        <a:t>70–100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23232"/>
                          </a:solidFill>
                        </a:rPr>
                        <a:t>↑</a:t>
                      </a:r>
                    </a:p>
                  </a:txBody>
                  <a:tcPr/>
                </a:tc>
              </a:tr>
              <a:tr h="35560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23232"/>
                          </a:solidFill>
                        </a:rPr>
                        <a:t>LDL</a:t>
                      </a:r>
                    </a:p>
                  </a:txBody>
                  <a:tcPr>
                    <a:solidFill>
                      <a:srgbClr val="D6E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C00000"/>
                          </a:solidFill>
                        </a:rPr>
                        <a:t>168 mg/dL</a:t>
                      </a:r>
                    </a:p>
                  </a:txBody>
                  <a:tcPr>
                    <a:solidFill>
                      <a:srgbClr val="D6E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23232"/>
                          </a:solidFill>
                        </a:rPr>
                        <a:t>&lt;100</a:t>
                      </a:r>
                    </a:p>
                  </a:txBody>
                  <a:tcPr>
                    <a:solidFill>
                      <a:srgbClr val="D6E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23232"/>
                          </a:solidFill>
                        </a:rPr>
                        <a:t>↑</a:t>
                      </a:r>
                    </a:p>
                  </a:txBody>
                  <a:tcPr>
                    <a:solidFill>
                      <a:srgbClr val="D6E3F3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23232"/>
                          </a:solidFill>
                        </a:rPr>
                        <a:t>HDL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C00000"/>
                          </a:solidFill>
                        </a:rPr>
                        <a:t>32 mg/dL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23232"/>
                          </a:solidFill>
                        </a:rPr>
                        <a:t>&gt;40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23232"/>
                          </a:solidFill>
                        </a:rPr>
                        <a:t>↓</a:t>
                      </a:r>
                    </a:p>
                  </a:txBody>
                  <a:tcPr/>
                </a:tc>
              </a:tr>
              <a:tr h="35560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23232"/>
                          </a:solidFill>
                        </a:rPr>
                        <a:t>Cr</a:t>
                      </a:r>
                    </a:p>
                  </a:txBody>
                  <a:tcPr>
                    <a:solidFill>
                      <a:srgbClr val="D6E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23232"/>
                          </a:solidFill>
                        </a:rPr>
                        <a:t>1.1 mg/dL</a:t>
                      </a:r>
                    </a:p>
                  </a:txBody>
                  <a:tcPr>
                    <a:solidFill>
                      <a:srgbClr val="D6E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23232"/>
                          </a:solidFill>
                        </a:rPr>
                        <a:t>0.7–1.2</a:t>
                      </a:r>
                    </a:p>
                  </a:txBody>
                  <a:tcPr>
                    <a:solidFill>
                      <a:srgbClr val="D6E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23232"/>
                          </a:solidFill>
                        </a:rPr>
                        <a:t>WNL</a:t>
                      </a:r>
                    </a:p>
                  </a:txBody>
                  <a:tcPr>
                    <a:solidFill>
                      <a:srgbClr val="D6E3F3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035040" y="1097280"/>
            <a:ext cx="5760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497D"/>
                </a:solidFill>
              </a:rPr>
              <a:t>12-Lead ECG</a:t>
            </a:r>
          </a:p>
          <a:p>
            <a:pPr lvl="1">
              <a:spcAft>
                <a:spcPts val="400"/>
              </a:spcAft>
            </a:pPr>
            <a:r>
              <a:rPr sz="1500" b="1">
                <a:solidFill>
                  <a:srgbClr val="C00000"/>
                </a:solidFill>
              </a:rPr>
              <a:t>ST elevation 2–4mm in V1–V4</a:t>
            </a:r>
          </a:p>
          <a:p>
            <a:pPr lvl="1">
              <a:spcAft>
                <a:spcPts val="400"/>
              </a:spcAft>
            </a:pPr>
            <a:r>
              <a:rPr sz="1500" b="0">
                <a:solidFill>
                  <a:srgbClr val="323232"/>
                </a:solidFill>
              </a:rPr>
              <a:t>Reciprocal ST depression in II, III, aVF</a:t>
            </a:r>
          </a:p>
          <a:p>
            <a:pPr lvl="1">
              <a:spcAft>
                <a:spcPts val="400"/>
              </a:spcAft>
            </a:pPr>
            <a:r>
              <a:rPr sz="1500" b="0">
                <a:solidFill>
                  <a:srgbClr val="323232"/>
                </a:solidFill>
              </a:rPr>
              <a:t>Q waves developing in V1–V2</a:t>
            </a:r>
          </a:p>
          <a:p>
            <a:pPr lvl="1">
              <a:spcAft>
                <a:spcPts val="400"/>
              </a:spcAft>
            </a:pPr>
            <a:r>
              <a:rPr sz="1500" b="1">
                <a:solidFill>
                  <a:srgbClr val="C00000"/>
                </a:solidFill>
              </a:rPr>
              <a:t>→ Anterior STEMI (LAD territory)</a:t>
            </a:r>
          </a:p>
          <a:p>
            <a:pPr>
              <a:spcAft>
                <a:spcPts val="400"/>
              </a:spcAft>
            </a:pPr>
            <a:r>
              <a:rPr sz="600" b="0">
                <a:solidFill>
                  <a:srgbClr val="323232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F497D"/>
                </a:solidFill>
              </a:rPr>
              <a:t>Chest X-Ray</a:t>
            </a:r>
          </a:p>
          <a:p>
            <a:pPr lvl="1">
              <a:spcAft>
                <a:spcPts val="400"/>
              </a:spcAft>
            </a:pPr>
            <a:r>
              <a:rPr sz="1500" b="0">
                <a:solidFill>
                  <a:srgbClr val="323232"/>
                </a:solidFill>
              </a:rPr>
              <a:t>Mild cardiomegaly</a:t>
            </a:r>
          </a:p>
          <a:p>
            <a:pPr lvl="1">
              <a:spcAft>
                <a:spcPts val="400"/>
              </a:spcAft>
            </a:pPr>
            <a:r>
              <a:rPr sz="1500" b="0">
                <a:solidFill>
                  <a:srgbClr val="C00000"/>
                </a:solidFill>
              </a:rPr>
              <a:t>Pulmonary vascular congestion</a:t>
            </a:r>
          </a:p>
          <a:p>
            <a:pPr lvl="1">
              <a:spcAft>
                <a:spcPts val="400"/>
              </a:spcAft>
            </a:pPr>
            <a:r>
              <a:rPr sz="1500" b="0">
                <a:solidFill>
                  <a:srgbClr val="C00000"/>
                </a:solidFill>
              </a:rPr>
              <a:t>Early interstitial edema</a:t>
            </a:r>
          </a:p>
          <a:p>
            <a:pPr lvl="1">
              <a:spcAft>
                <a:spcPts val="400"/>
              </a:spcAft>
            </a:pPr>
            <a:r>
              <a:rPr sz="1500" b="0">
                <a:solidFill>
                  <a:srgbClr val="323232"/>
                </a:solidFill>
              </a:rPr>
              <a:t>No PTX, no pleural effusion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74320" tIns="137160"/>
          <a:lstStyle/>
          <a:p>
            <a:pPr algn="l"/>
            <a:r>
              <a:rPr b="1" sz="2800">
                <a:solidFill>
                  <a:srgbClr val="FFFFFF"/>
                </a:solidFill>
              </a:rPr>
              <a:t>Problem List &amp; 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 b="1">
                <a:solidFill>
                  <a:srgbClr val="1F497D"/>
                </a:solidFill>
              </a:rPr>
              <a:t>Problem List</a:t>
            </a:r>
          </a:p>
          <a:p>
            <a:pPr lvl="1">
              <a:spcAft>
                <a:spcPts val="400"/>
              </a:spcAft>
            </a:pPr>
            <a:r>
              <a:rPr sz="1500" b="1">
                <a:solidFill>
                  <a:srgbClr val="C00000"/>
                </a:solidFill>
              </a:rPr>
              <a:t>1.  Anterior STEMI — LAD occlusion (PRIMARY)</a:t>
            </a:r>
          </a:p>
          <a:p>
            <a:pPr lvl="1">
              <a:spcAft>
                <a:spcPts val="400"/>
              </a:spcAft>
            </a:pPr>
            <a:r>
              <a:rPr sz="1500" b="0">
                <a:solidFill>
                  <a:srgbClr val="C00000"/>
                </a:solidFill>
              </a:rPr>
              <a:t>2.  Acute heart failure — Killip Class II</a:t>
            </a:r>
          </a:p>
          <a:p>
            <a:pPr lvl="1">
              <a:spcAft>
                <a:spcPts val="400"/>
              </a:spcAft>
            </a:pPr>
            <a:r>
              <a:rPr sz="1500" b="0">
                <a:solidFill>
                  <a:srgbClr val="323232"/>
                </a:solidFill>
              </a:rPr>
              <a:t>3.  Uncontrolled hypertension</a:t>
            </a:r>
          </a:p>
          <a:p>
            <a:pPr lvl="1">
              <a:spcAft>
                <a:spcPts val="400"/>
              </a:spcAft>
            </a:pPr>
            <a:r>
              <a:rPr sz="1500" b="0">
                <a:solidFill>
                  <a:srgbClr val="323232"/>
                </a:solidFill>
              </a:rPr>
              <a:t>4.  Uncontrolled T2DM (glucose 198)</a:t>
            </a:r>
          </a:p>
          <a:p>
            <a:pPr lvl="1">
              <a:spcAft>
                <a:spcPts val="400"/>
              </a:spcAft>
            </a:pPr>
            <a:r>
              <a:rPr sz="1500" b="0">
                <a:solidFill>
                  <a:srgbClr val="323232"/>
                </a:solidFill>
              </a:rPr>
              <a:t>5.  Hyperlipidemia (non-compliant)</a:t>
            </a:r>
          </a:p>
          <a:p>
            <a:pPr lvl="1">
              <a:spcAft>
                <a:spcPts val="400"/>
              </a:spcAft>
            </a:pPr>
            <a:r>
              <a:rPr sz="1500" b="0">
                <a:solidFill>
                  <a:srgbClr val="323232"/>
                </a:solidFill>
              </a:rPr>
              <a:t>6.  Active smoker — 30 pack-years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4206240"/>
            <a:ext cx="11247120" cy="2194560"/>
          </a:xfrm>
          <a:prstGeom prst="rect">
            <a:avLst/>
          </a:prstGeom>
          <a:solidFill>
            <a:srgbClr val="D6E3F3"/>
          </a:solidFill>
          <a:ln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/>
            <a:r>
              <a:rPr b="1" sz="1500">
                <a:solidFill>
                  <a:srgbClr val="1F497D"/>
                </a:solidFill>
              </a:rPr>
              <a:t>Assessment</a:t>
            </a:r>
          </a:p>
          <a:p>
            <a:r>
              <a:rPr sz="1300">
                <a:solidFill>
                  <a:srgbClr val="323232"/>
                </a:solidFill>
              </a:rPr>
              <a:t>62 y/o male with HTN, T2DM, hyperlipidemia, 30 pack-year smoking history, and strong family history of CAD, presenting with 2-hour crushing substernal chest pain radiating to left arm with diaphoresis, ST elevation V1–V4, and markedly elevated troponin I (18.4 ng/mL), consistent with anterior STEMI secondary to acute LAD occlusion.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74320" tIns="137160"/>
          <a:lstStyle/>
          <a:p>
            <a:pPr algn="l"/>
            <a:r>
              <a:rPr b="1" sz="2800">
                <a:solidFill>
                  <a:srgbClr val="FFFFFF"/>
                </a:solidFill>
              </a:rPr>
              <a:t>Differential Diagnosis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47120" cy="22402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4114800"/>
                <a:gridCol w="4572000"/>
              </a:tblGrid>
              <a:tr h="373379"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</a:rPr>
                        <a:t>Diagnosis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</a:rPr>
                        <a:t>Supporting Evidence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</a:rPr>
                        <a:t>Against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</a:tr>
              <a:tr h="373379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C00000"/>
                          </a:solidFill>
                        </a:rPr>
                        <a:t>Anterior STEMI 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23232"/>
                          </a:solidFill>
                        </a:rPr>
                        <a:t>ST↑ V1–V4, Trop↑↑↑, crushing CP, diaphoresis, risk factors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23232"/>
                          </a:solidFill>
                        </a:rPr>
                        <a:t>—</a:t>
                      </a:r>
                    </a:p>
                  </a:txBody>
                  <a:tcPr/>
                </a:tc>
              </a:tr>
              <a:tr h="373379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23232"/>
                          </a:solidFill>
                        </a:rPr>
                        <a:t>Aortic Dissection</a:t>
                      </a:r>
                    </a:p>
                  </a:txBody>
                  <a:tcPr>
                    <a:solidFill>
                      <a:srgbClr val="D6E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23232"/>
                          </a:solidFill>
                        </a:rPr>
                        <a:t>Severe CP, hypertension</a:t>
                      </a:r>
                    </a:p>
                  </a:txBody>
                  <a:tcPr>
                    <a:solidFill>
                      <a:srgbClr val="D6E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23232"/>
                          </a:solidFill>
                        </a:rPr>
                        <a:t>No tearing quality, no pulse differential, normal mediastinum on CXR</a:t>
                      </a:r>
                    </a:p>
                  </a:txBody>
                  <a:tcPr>
                    <a:solidFill>
                      <a:srgbClr val="D6E3F3"/>
                    </a:solidFill>
                  </a:tcPr>
                </a:tc>
              </a:tr>
              <a:tr h="373379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23232"/>
                          </a:solidFill>
                        </a:rPr>
                        <a:t>Pulmonary Embolism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23232"/>
                          </a:solidFill>
                        </a:rPr>
                        <a:t>Dyspnea, tachycardia, SpO2↓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23232"/>
                          </a:solidFill>
                        </a:rPr>
                        <a:t>No pleuritic pain, no DVT, ECG = ST↑ not S1Q3T3</a:t>
                      </a:r>
                    </a:p>
                  </a:txBody>
                  <a:tcPr/>
                </a:tc>
              </a:tr>
              <a:tr h="373379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23232"/>
                          </a:solidFill>
                        </a:rPr>
                        <a:t>NSTEMI / UA</a:t>
                      </a:r>
                    </a:p>
                  </a:txBody>
                  <a:tcPr>
                    <a:solidFill>
                      <a:srgbClr val="D6E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23232"/>
                          </a:solidFill>
                        </a:rPr>
                        <a:t>Chest pain, troponin rise</a:t>
                      </a:r>
                    </a:p>
                  </a:txBody>
                  <a:tcPr>
                    <a:solidFill>
                      <a:srgbClr val="D6E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23232"/>
                          </a:solidFill>
                        </a:rPr>
                        <a:t>ST elevation present → rules out NSTEMI by definition</a:t>
                      </a:r>
                    </a:p>
                  </a:txBody>
                  <a:tcPr>
                    <a:solidFill>
                      <a:srgbClr val="D6E3F3"/>
                    </a:solidFill>
                  </a:tcPr>
                </a:tc>
              </a:tr>
              <a:tr h="373384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23232"/>
                          </a:solidFill>
                        </a:rPr>
                        <a:t>Takotsubo CMP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23232"/>
                          </a:solidFill>
                        </a:rPr>
                        <a:t>Anterior wall motion abnormality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23232"/>
                          </a:solidFill>
                        </a:rPr>
                        <a:t>Male sex, no acute emotional stressor, classic risk factor profile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74320" tIns="137160"/>
          <a:lstStyle/>
          <a:p>
            <a:pPr algn="l"/>
            <a:r>
              <a:rPr b="1" sz="2800">
                <a:solidFill>
                  <a:srgbClr val="FFFFFF"/>
                </a:solidFill>
              </a:rPr>
              <a:t>Final Diagnosis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C00000"/>
                </a:solidFill>
              </a:rPr>
              <a:t>Anterior ST-Elevation Myocardial Infarction (Anterior STEMI)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1F497D"/>
                </a:solidFill>
              </a:rPr>
              <a:t>Culprit Vessel: LAD (proximal occlusion)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23232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1F497D"/>
                </a:solidFill>
              </a:rPr>
              <a:t>Diagnostic Criteria Met (ACC/AHA Universal Definition of MI)</a:t>
            </a:r>
          </a:p>
          <a:p>
            <a:pPr lvl="1">
              <a:spcAft>
                <a:spcPts val="400"/>
              </a:spcAft>
            </a:pPr>
            <a:r>
              <a:rPr sz="1500" b="0">
                <a:solidFill>
                  <a:srgbClr val="323232"/>
                </a:solidFill>
              </a:rPr>
              <a:t>✅  Ischemic symptoms &gt; 20 minutes</a:t>
            </a:r>
          </a:p>
          <a:p>
            <a:pPr lvl="1">
              <a:spcAft>
                <a:spcPts val="400"/>
              </a:spcAft>
            </a:pPr>
            <a:r>
              <a:rPr sz="1500" b="0">
                <a:solidFill>
                  <a:srgbClr val="323232"/>
                </a:solidFill>
              </a:rPr>
              <a:t>✅  New ST elevation ≥ 2mm in V1–V4 (≥2 contiguous leads)</a:t>
            </a:r>
          </a:p>
          <a:p>
            <a:pPr lvl="1">
              <a:spcAft>
                <a:spcPts val="400"/>
              </a:spcAft>
            </a:pPr>
            <a:r>
              <a:rPr sz="1500" b="0">
                <a:solidFill>
                  <a:srgbClr val="323232"/>
                </a:solidFill>
              </a:rPr>
              <a:t>✅  Troponin I 18.4 ng/mL (&gt; 450× upper limit of normal)</a:t>
            </a:r>
          </a:p>
          <a:p>
            <a:pPr lvl="1">
              <a:spcAft>
                <a:spcPts val="400"/>
              </a:spcAft>
            </a:pPr>
            <a:r>
              <a:rPr sz="1500" b="0">
                <a:solidFill>
                  <a:srgbClr val="323232"/>
                </a:solidFill>
              </a:rPr>
              <a:t>✅  Anterior wall hypokinesia on echocardiogram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23232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1F497D"/>
                </a:solidFill>
              </a:rPr>
              <a:t>Classification</a:t>
            </a:r>
          </a:p>
          <a:p>
            <a:pPr lvl="1">
              <a:spcAft>
                <a:spcPts val="400"/>
              </a:spcAft>
            </a:pPr>
            <a:r>
              <a:rPr sz="1500" b="0">
                <a:solidFill>
                  <a:srgbClr val="323232"/>
                </a:solidFill>
              </a:rPr>
              <a:t>Killip Class II  (S3 gallop + basal crackles)</a:t>
            </a:r>
          </a:p>
          <a:p>
            <a:pPr lvl="1">
              <a:spcAft>
                <a:spcPts val="400"/>
              </a:spcAft>
            </a:pPr>
            <a:r>
              <a:rPr sz="1500" b="0">
                <a:solidFill>
                  <a:srgbClr val="C00000"/>
                </a:solidFill>
              </a:rPr>
              <a:t>TIMI Risk Score: 6/14  →  High Risk</a:t>
            </a:r>
          </a:p>
          <a:p>
            <a:pPr lvl="1">
              <a:spcAft>
                <a:spcPts val="400"/>
              </a:spcAft>
            </a:pPr>
            <a:r>
              <a:rPr sz="1500" b="0">
                <a:solidFill>
                  <a:srgbClr val="323232"/>
                </a:solidFill>
              </a:rPr>
              <a:t>Type 1 MI (Spontaneous — atherosclerotic plaque rupture)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74320" tIns="137160"/>
          <a:lstStyle/>
          <a:p>
            <a:pPr algn="l"/>
            <a:r>
              <a:rPr b="1" sz="2800">
                <a:solidFill>
                  <a:srgbClr val="FFFFFF"/>
                </a:solidFill>
              </a:rPr>
              <a:t>Treatment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C00000"/>
                </a:solidFill>
              </a:rPr>
              <a:t>Acute / Emergency</a:t>
            </a:r>
          </a:p>
          <a:p>
            <a:pPr lvl="1">
              <a:spcAft>
                <a:spcPts val="400"/>
              </a:spcAft>
            </a:pPr>
            <a:r>
              <a:rPr sz="1300" b="1">
                <a:solidFill>
                  <a:srgbClr val="323232"/>
                </a:solidFill>
              </a:rPr>
              <a:t>Primary PCI — LAD stent (DES)  |  Door-to-balloon target: &lt; 90 min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323232"/>
                </a:solidFill>
              </a:rPr>
              <a:t>O2 supplementation (target SpO2 ≥ 95%)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323232"/>
                </a:solidFill>
              </a:rPr>
              <a:t>IV access × 2, cardiac monitoring, 12-lead serial ECG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2606040"/>
          <a:ext cx="1124712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3200400"/>
                <a:gridCol w="1371600"/>
                <a:gridCol w="41148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</a:rPr>
                        <a:t>Drug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</a:rPr>
                        <a:t>Dose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</a:rPr>
                        <a:t>Route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</a:rPr>
                        <a:t>Indication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23232"/>
                          </a:solidFill>
                        </a:rPr>
                        <a:t>Aspirin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23232"/>
                          </a:solidFill>
                        </a:rPr>
                        <a:t>300mg load → 100mg QD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23232"/>
                          </a:solidFill>
                        </a:rPr>
                        <a:t>PO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23232"/>
                          </a:solidFill>
                        </a:rPr>
                        <a:t>Antiplatelet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23232"/>
                          </a:solidFill>
                        </a:rPr>
                        <a:t>Clopidogrel</a:t>
                      </a:r>
                    </a:p>
                  </a:txBody>
                  <a:tcPr>
                    <a:solidFill>
                      <a:srgbClr val="D6E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23232"/>
                          </a:solidFill>
                        </a:rPr>
                        <a:t>600mg load → 75mg QD</a:t>
                      </a:r>
                    </a:p>
                  </a:txBody>
                  <a:tcPr>
                    <a:solidFill>
                      <a:srgbClr val="D6E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23232"/>
                          </a:solidFill>
                        </a:rPr>
                        <a:t>PO</a:t>
                      </a:r>
                    </a:p>
                  </a:txBody>
                  <a:tcPr>
                    <a:solidFill>
                      <a:srgbClr val="D6E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23232"/>
                          </a:solidFill>
                        </a:rPr>
                        <a:t>DAPT (×12 mo)</a:t>
                      </a:r>
                    </a:p>
                  </a:txBody>
                  <a:tcPr>
                    <a:solidFill>
                      <a:srgbClr val="D6E3F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23232"/>
                          </a:solidFill>
                        </a:rPr>
                        <a:t>Heparin UFH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23232"/>
                          </a:solidFill>
                        </a:rPr>
                        <a:t>60 U/kg bolus → infusion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23232"/>
                          </a:solidFill>
                        </a:rPr>
                        <a:t>IV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23232"/>
                          </a:solidFill>
                        </a:rPr>
                        <a:t>Anticoagulation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23232"/>
                          </a:solidFill>
                        </a:rPr>
                        <a:t>Metoprolol succinate</a:t>
                      </a:r>
                    </a:p>
                  </a:txBody>
                  <a:tcPr>
                    <a:solidFill>
                      <a:srgbClr val="D6E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23232"/>
                          </a:solidFill>
                        </a:rPr>
                        <a:t>25mg QD → uptitrate</a:t>
                      </a:r>
                    </a:p>
                  </a:txBody>
                  <a:tcPr>
                    <a:solidFill>
                      <a:srgbClr val="D6E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23232"/>
                          </a:solidFill>
                        </a:rPr>
                        <a:t>PO</a:t>
                      </a:r>
                    </a:p>
                  </a:txBody>
                  <a:tcPr>
                    <a:solidFill>
                      <a:srgbClr val="D6E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23232"/>
                          </a:solidFill>
                        </a:rPr>
                        <a:t>Beta-blocker</a:t>
                      </a:r>
                    </a:p>
                  </a:txBody>
                  <a:tcPr>
                    <a:solidFill>
                      <a:srgbClr val="D6E3F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23232"/>
                          </a:solidFill>
                        </a:rPr>
                        <a:t>Ramipril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23232"/>
                          </a:solidFill>
                        </a:rPr>
                        <a:t>2.5mg QD → uptitrate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23232"/>
                          </a:solidFill>
                        </a:rPr>
                        <a:t>PO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23232"/>
                          </a:solidFill>
                        </a:rPr>
                        <a:t>ACEi (EF↓, HTN)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23232"/>
                          </a:solidFill>
                        </a:rPr>
                        <a:t>Rosuvastatin</a:t>
                      </a:r>
                    </a:p>
                  </a:txBody>
                  <a:tcPr>
                    <a:solidFill>
                      <a:srgbClr val="D6E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23232"/>
                          </a:solidFill>
                        </a:rPr>
                        <a:t>20mg QD</a:t>
                      </a:r>
                    </a:p>
                  </a:txBody>
                  <a:tcPr>
                    <a:solidFill>
                      <a:srgbClr val="D6E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23232"/>
                          </a:solidFill>
                        </a:rPr>
                        <a:t>PO</a:t>
                      </a:r>
                    </a:p>
                  </a:txBody>
                  <a:tcPr>
                    <a:solidFill>
                      <a:srgbClr val="D6E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23232"/>
                          </a:solidFill>
                        </a:rPr>
                        <a:t>High-intensity statin</a:t>
                      </a:r>
                    </a:p>
                  </a:txBody>
                  <a:tcPr>
                    <a:solidFill>
                      <a:srgbClr val="D6E3F3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66928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1F497D"/>
                </a:solidFill>
              </a:rPr>
              <a:t>Non-pharm / Follow-up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323232"/>
                </a:solidFill>
              </a:rPr>
              <a:t>Low-Na/low-fat diet  |  Smoking cessation  |  Cardiac rehab referral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323232"/>
                </a:solidFill>
              </a:rPr>
              <a:t>Echo at 4–6 wks  |  Outpatient cardiology at 2 wks  |  Lipid + HbA1c at 6 wks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74320" tIns="137160"/>
          <a:lstStyle/>
          <a:p>
            <a:pPr algn="l"/>
            <a:r>
              <a:rPr b="1" sz="2800">
                <a:solidFill>
                  <a:srgbClr val="FFFFFF"/>
                </a:solidFill>
              </a:rPr>
              <a:t>Discussion &amp; Key 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 b="1">
                <a:solidFill>
                  <a:srgbClr val="C00000"/>
                </a:solidFill>
              </a:rPr>
              <a:t>"Time is Muscle"</a:t>
            </a:r>
          </a:p>
          <a:p>
            <a:pPr lvl="1">
              <a:spcAft>
                <a:spcPts val="400"/>
              </a:spcAft>
            </a:pPr>
            <a:r>
              <a:rPr sz="1400" b="0">
                <a:solidFill>
                  <a:srgbClr val="323232"/>
                </a:solidFill>
              </a:rPr>
              <a:t>Door-to-balloon &lt; 90 min is the #1 determinant of outcome in STEMI</a:t>
            </a:r>
          </a:p>
          <a:p>
            <a:pPr lvl="1">
              <a:spcAft>
                <a:spcPts val="400"/>
              </a:spcAft>
            </a:pPr>
            <a:r>
              <a:rPr sz="1400" b="0">
                <a:solidFill>
                  <a:srgbClr val="323232"/>
                </a:solidFill>
              </a:rPr>
              <a:t>Every 30-min delay ≈ 7.5% increase in 1-year mortality</a:t>
            </a:r>
          </a:p>
          <a:p>
            <a:pPr>
              <a:spcAft>
                <a:spcPts val="400"/>
              </a:spcAft>
            </a:pPr>
            <a:r>
              <a:rPr sz="600" b="0">
                <a:solidFill>
                  <a:srgbClr val="323232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1F497D"/>
                </a:solidFill>
              </a:rPr>
              <a:t>Killip Classification guides acute HF management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323232"/>
                </a:solidFill>
              </a:rPr>
              <a:t>Class I: No HF  |  Class II: S3/crackles  |  Class III: Pulm edema  |  Class IV: Cardiogenic shock</a:t>
            </a:r>
          </a:p>
          <a:p>
            <a:pPr>
              <a:spcAft>
                <a:spcPts val="400"/>
              </a:spcAft>
            </a:pPr>
            <a:r>
              <a:rPr sz="600" b="0">
                <a:solidFill>
                  <a:srgbClr val="323232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1F497D"/>
                </a:solidFill>
              </a:rPr>
              <a:t>DAPT Duration Post-DES: 12 months minimum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323232"/>
                </a:solidFill>
              </a:rPr>
              <a:t>Aspirin + P2Y12 inhibitor (prefer ticagrelor &gt; clopidogrel per guidelines)</a:t>
            </a:r>
          </a:p>
          <a:p>
            <a:pPr>
              <a:spcAft>
                <a:spcPts val="400"/>
              </a:spcAft>
            </a:pPr>
            <a:r>
              <a:rPr sz="600" b="0">
                <a:solidFill>
                  <a:srgbClr val="323232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1F497D"/>
                </a:solidFill>
              </a:rPr>
              <a:t>ACEi / ARB mandatory when EF &lt; 40% post-MI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323232"/>
                </a:solidFill>
              </a:rPr>
              <a:t>Reduces ventricular remodeling and mortality (SAVE, AIRE trials)</a:t>
            </a:r>
          </a:p>
          <a:p>
            <a:pPr>
              <a:spcAft>
                <a:spcPts val="400"/>
              </a:spcAft>
            </a:pPr>
            <a:r>
              <a:rPr sz="600" b="0">
                <a:solidFill>
                  <a:srgbClr val="323232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1F497D"/>
                </a:solidFill>
              </a:rPr>
              <a:t>Secondary Prevention = as important as acute therapy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323232"/>
                </a:solidFill>
              </a:rPr>
              <a:t>Statin (LDL&lt;70) + BP control + DM mgmt + smoking cessation + cardiac rehab → ↓50% recurrence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